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Light" charset="1" panose="00000400000000000000"/>
      <p:regular r:id="rId15"/>
    </p:embeddedFont>
    <p:embeddedFont>
      <p:font typeface="Roboto Italics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Roboto Bol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471272"/>
            <a:ext cx="7088238" cy="96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VirtuTeach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499219"/>
            <a:ext cx="3753445" cy="45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AI </a:t>
            </a:r>
            <a:r>
              <a:rPr lang="en-US" sz="27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Teaching Simulator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5319712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i="true">
                <a:solidFill>
                  <a:srgbClr val="E5E0D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Practice Teaching. Get Real-time AI Feedback. Improve Faster.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45476" y="6182763"/>
            <a:ext cx="4424953" cy="561384"/>
            <a:chOff x="0" y="0"/>
            <a:chExt cx="5899937" cy="748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99912" cy="748538"/>
            </a:xfrm>
            <a:custGeom>
              <a:avLst/>
              <a:gdLst/>
              <a:ahLst/>
              <a:cxnLst/>
              <a:rect r="r" b="b" t="t" l="l"/>
              <a:pathLst>
                <a:path h="748538" w="5899912">
                  <a:moveTo>
                    <a:pt x="0" y="133350"/>
                  </a:moveTo>
                  <a:cubicBezTo>
                    <a:pt x="0" y="59563"/>
                    <a:pt x="60706" y="0"/>
                    <a:pt x="135255" y="0"/>
                  </a:cubicBezTo>
                  <a:lnTo>
                    <a:pt x="5764657" y="0"/>
                  </a:lnTo>
                  <a:lnTo>
                    <a:pt x="5764657" y="6350"/>
                  </a:lnTo>
                  <a:lnTo>
                    <a:pt x="5764657" y="0"/>
                  </a:lnTo>
                  <a:cubicBezTo>
                    <a:pt x="5839333" y="0"/>
                    <a:pt x="5899912" y="59563"/>
                    <a:pt x="5899912" y="133350"/>
                  </a:cubicBezTo>
                  <a:lnTo>
                    <a:pt x="5893562" y="133350"/>
                  </a:lnTo>
                  <a:lnTo>
                    <a:pt x="5899912" y="133350"/>
                  </a:lnTo>
                  <a:lnTo>
                    <a:pt x="5899912" y="615188"/>
                  </a:lnTo>
                  <a:lnTo>
                    <a:pt x="5893562" y="615188"/>
                  </a:lnTo>
                  <a:lnTo>
                    <a:pt x="5899912" y="615188"/>
                  </a:lnTo>
                  <a:cubicBezTo>
                    <a:pt x="5899912" y="688975"/>
                    <a:pt x="5839206" y="748538"/>
                    <a:pt x="5764657" y="748538"/>
                  </a:cubicBezTo>
                  <a:lnTo>
                    <a:pt x="5764657" y="742188"/>
                  </a:lnTo>
                  <a:lnTo>
                    <a:pt x="5764657" y="748538"/>
                  </a:lnTo>
                  <a:lnTo>
                    <a:pt x="135255" y="748538"/>
                  </a:lnTo>
                  <a:lnTo>
                    <a:pt x="135255" y="742188"/>
                  </a:lnTo>
                  <a:lnTo>
                    <a:pt x="135255" y="748538"/>
                  </a:lnTo>
                  <a:cubicBezTo>
                    <a:pt x="60706" y="748538"/>
                    <a:pt x="0" y="688848"/>
                    <a:pt x="0" y="615188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615188"/>
                  </a:lnTo>
                  <a:lnTo>
                    <a:pt x="6350" y="615188"/>
                  </a:lnTo>
                  <a:lnTo>
                    <a:pt x="12700" y="615188"/>
                  </a:lnTo>
                  <a:cubicBezTo>
                    <a:pt x="12700" y="681736"/>
                    <a:pt x="67437" y="735838"/>
                    <a:pt x="135255" y="735838"/>
                  </a:cubicBezTo>
                  <a:lnTo>
                    <a:pt x="5764657" y="735838"/>
                  </a:lnTo>
                  <a:cubicBezTo>
                    <a:pt x="5832475" y="735838"/>
                    <a:pt x="5887212" y="681736"/>
                    <a:pt x="5887212" y="615188"/>
                  </a:cubicBezTo>
                  <a:lnTo>
                    <a:pt x="5887212" y="133350"/>
                  </a:lnTo>
                  <a:cubicBezTo>
                    <a:pt x="5887212" y="66802"/>
                    <a:pt x="5832475" y="12700"/>
                    <a:pt x="5764657" y="12700"/>
                  </a:cubicBezTo>
                  <a:lnTo>
                    <a:pt x="135255" y="12700"/>
                  </a:lnTo>
                  <a:lnTo>
                    <a:pt x="135255" y="6350"/>
                  </a:lnTo>
                  <a:lnTo>
                    <a:pt x="135255" y="12700"/>
                  </a:lnTo>
                  <a:cubicBezTo>
                    <a:pt x="67437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29870" y="6205833"/>
            <a:ext cx="4056164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F2F2F3"/>
                </a:solidFill>
                <a:latin typeface="Roboto"/>
                <a:ea typeface="Roboto"/>
                <a:cs typeface="Roboto"/>
                <a:sym typeface="Roboto"/>
              </a:rPr>
              <a:t>TEAM: ERROR 404 CODERS NOT FOUND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76760" y="754266"/>
            <a:ext cx="9476480" cy="173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Problem — and Our Solution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812" y="2859434"/>
            <a:ext cx="4796733" cy="6596958"/>
            <a:chOff x="0" y="0"/>
            <a:chExt cx="6395644" cy="87959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95593" cy="8795893"/>
            </a:xfrm>
            <a:custGeom>
              <a:avLst/>
              <a:gdLst/>
              <a:ahLst/>
              <a:cxnLst/>
              <a:rect r="r" b="b" t="t" l="l"/>
              <a:pathLst>
                <a:path h="8795893" w="6395593">
                  <a:moveTo>
                    <a:pt x="0" y="254508"/>
                  </a:moveTo>
                  <a:cubicBezTo>
                    <a:pt x="0" y="113919"/>
                    <a:pt x="113919" y="0"/>
                    <a:pt x="254508" y="0"/>
                  </a:cubicBezTo>
                  <a:lnTo>
                    <a:pt x="6141085" y="0"/>
                  </a:lnTo>
                  <a:cubicBezTo>
                    <a:pt x="6281674" y="0"/>
                    <a:pt x="6395593" y="113919"/>
                    <a:pt x="6395593" y="254508"/>
                  </a:cubicBezTo>
                  <a:lnTo>
                    <a:pt x="6395593" y="8541385"/>
                  </a:lnTo>
                  <a:cubicBezTo>
                    <a:pt x="6395593" y="8681974"/>
                    <a:pt x="6281674" y="8795893"/>
                    <a:pt x="6141085" y="8795893"/>
                  </a:cubicBezTo>
                  <a:lnTo>
                    <a:pt x="254508" y="8795893"/>
                  </a:lnTo>
                  <a:cubicBezTo>
                    <a:pt x="113919" y="8795893"/>
                    <a:pt x="0" y="8681974"/>
                    <a:pt x="0" y="8541385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50874" y="3059754"/>
            <a:ext cx="4266609" cy="87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Gap in Teacher Training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0874" y="4117029"/>
            <a:ext cx="4266609" cy="39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New teachers have </a:t>
            </a:r>
            <a:r>
              <a:rPr lang="en-US" b="true" sz="206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no safe space</a:t>
            </a:r>
            <a:r>
              <a:rPr lang="en-US" sz="20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to practise and make mistakes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Traditional training gives </a:t>
            </a:r>
            <a:r>
              <a:rPr lang="en-US" b="true" sz="206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zero real-time feedback</a:t>
            </a:r>
            <a:r>
              <a:rPr lang="en-US" sz="20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on teaching quality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Every practice session requires </a:t>
            </a:r>
            <a:r>
              <a:rPr lang="en-US" b="true" sz="206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real students</a:t>
            </a:r>
            <a:r>
              <a:rPr lang="en-US" sz="20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costly and impractical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47927" y="3059754"/>
            <a:ext cx="4414838" cy="87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VirtuTeach AI Bridges the Gap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47927" y="4117029"/>
            <a:ext cx="4414838" cy="525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b="true" sz="2062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virtual classroom</a:t>
            </a:r>
            <a:r>
              <a:rPr lang="en-US" sz="206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with AI student personas that react authentically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b="true" sz="2062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Real-time scoring</a:t>
            </a:r>
            <a:r>
              <a:rPr lang="en-US" sz="206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across Clarity, Completeness &amp; Engagement (1–10)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Voice &amp; text input with </a:t>
            </a:r>
            <a:r>
              <a:rPr lang="en-US" b="true" sz="2062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PDF material upload</a:t>
            </a:r>
            <a:r>
              <a:rPr lang="en-US" sz="206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for alignment tracking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Instant feedback via </a:t>
            </a:r>
            <a:r>
              <a:rPr lang="en-US" b="true" sz="2062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speech bubbles and emojis</a:t>
            </a:r>
            <a:r>
              <a:rPr lang="en-US" sz="206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— just like a real class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88716"/>
            <a:ext cx="9399832" cy="96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Key Features Implemented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2917927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00" r="0" b="-750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3791693"/>
            <a:ext cx="3544043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AI Student Personas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357097"/>
            <a:ext cx="7974511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3 unique students — Rahul, Ananya &amp; Arjun — powered by </a:t>
            </a:r>
            <a:r>
              <a:rPr lang="en-US" sz="21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Google Gemini API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, each with distinct confusion and curiosity behaviours.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1108" y="2917927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2500" r="0" b="-3250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1108" y="3791693"/>
            <a:ext cx="3544043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Voice Recognition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4357097"/>
            <a:ext cx="7974654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Web Speech API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enables continuous real-time listening, letting teachers speak naturally without interruption.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6380264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165" r="0" b="-416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238" y="7254030"/>
            <a:ext cx="3544043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PDF Processing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819434"/>
            <a:ext cx="79745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PDF.js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extracts keywords and tracks how well the teacher's speech aligns with uploaded lesson material.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1108" y="6380264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3" t="0" r="-833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21108" y="7254030"/>
            <a:ext cx="3544043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Real-time Scoring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7819434"/>
            <a:ext cx="7974654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Live scores (1–10) for Clarity, Completeness, and Engagement, plus a </a:t>
            </a:r>
            <a:r>
              <a:rPr lang="en-US" sz="21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0–100% material alignment meter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39838"/>
            <a:ext cx="7862592" cy="96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Technical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546147"/>
            <a:ext cx="8655548" cy="6505870"/>
            <a:chOff x="0" y="0"/>
            <a:chExt cx="11540731" cy="867449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540744" cy="8674481"/>
            </a:xfrm>
            <a:custGeom>
              <a:avLst/>
              <a:gdLst/>
              <a:ahLst/>
              <a:cxnLst/>
              <a:rect r="r" b="b" t="t" l="l"/>
              <a:pathLst>
                <a:path h="8674481" w="11540744">
                  <a:moveTo>
                    <a:pt x="0" y="0"/>
                  </a:moveTo>
                  <a:lnTo>
                    <a:pt x="11540744" y="0"/>
                  </a:lnTo>
                  <a:lnTo>
                    <a:pt x="11540744" y="8674481"/>
                  </a:lnTo>
                  <a:lnTo>
                    <a:pt x="0" y="8674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" t="0" r="-1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527232" y="5264487"/>
            <a:ext cx="1578531" cy="148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Three-layer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8613" y="6969557"/>
            <a:ext cx="2348351" cy="75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Backend: /analyze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8613" y="7813167"/>
            <a:ext cx="2348351" cy="88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Node.js + Express routes POST and returns scores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2992" y="6969557"/>
            <a:ext cx="2348351" cy="75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AI: Gemini Evaluation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2992" y="7813167"/>
            <a:ext cx="2348351" cy="88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gemini-2.5-flash-lite rates teaching &amp; reactions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03722" y="2846756"/>
            <a:ext cx="2412521" cy="75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Frontend: UI &amp; I/O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03722" y="3690366"/>
            <a:ext cx="2412521" cy="59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HTML/CSS/JS handles voice and text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49065" y="2480520"/>
            <a:ext cx="3544043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Stack at a Glance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330015" y="3270942"/>
            <a:ext cx="3374384" cy="3222279"/>
            <a:chOff x="0" y="0"/>
            <a:chExt cx="4499178" cy="42963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4448429" cy="4245483"/>
            </a:xfrm>
            <a:custGeom>
              <a:avLst/>
              <a:gdLst/>
              <a:ahLst/>
              <a:cxnLst/>
              <a:rect r="r" b="b" t="t" l="l"/>
              <a:pathLst>
                <a:path h="4245483" w="4448429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4289552" y="0"/>
                  </a:lnTo>
                  <a:cubicBezTo>
                    <a:pt x="4377309" y="0"/>
                    <a:pt x="4448429" y="71120"/>
                    <a:pt x="4448429" y="158750"/>
                  </a:cubicBezTo>
                  <a:lnTo>
                    <a:pt x="4448429" y="4086733"/>
                  </a:lnTo>
                  <a:cubicBezTo>
                    <a:pt x="4448429" y="4174490"/>
                    <a:pt x="4377309" y="4245483"/>
                    <a:pt x="4289552" y="4245483"/>
                  </a:cubicBezTo>
                  <a:lnTo>
                    <a:pt x="158877" y="4245483"/>
                  </a:lnTo>
                  <a:cubicBezTo>
                    <a:pt x="71120" y="4245610"/>
                    <a:pt x="0" y="4174490"/>
                    <a:pt x="0" y="4086733"/>
                  </a:cubicBezTo>
                  <a:close/>
                </a:path>
              </a:pathLst>
            </a:custGeom>
            <a:solidFill>
              <a:srgbClr val="05050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9229" cy="4296283"/>
            </a:xfrm>
            <a:custGeom>
              <a:avLst/>
              <a:gdLst/>
              <a:ahLst/>
              <a:cxnLst/>
              <a:rect r="r" b="b" t="t" l="l"/>
              <a:pathLst>
                <a:path h="4296283" w="4499229">
                  <a:moveTo>
                    <a:pt x="0" y="184150"/>
                  </a:moveTo>
                  <a:cubicBezTo>
                    <a:pt x="0" y="82423"/>
                    <a:pt x="82550" y="0"/>
                    <a:pt x="184277" y="0"/>
                  </a:cubicBezTo>
                  <a:lnTo>
                    <a:pt x="4314952" y="0"/>
                  </a:lnTo>
                  <a:lnTo>
                    <a:pt x="4314952" y="25400"/>
                  </a:lnTo>
                  <a:lnTo>
                    <a:pt x="4314952" y="0"/>
                  </a:lnTo>
                  <a:cubicBezTo>
                    <a:pt x="4416679" y="0"/>
                    <a:pt x="4499229" y="82423"/>
                    <a:pt x="4499229" y="184150"/>
                  </a:cubicBezTo>
                  <a:lnTo>
                    <a:pt x="4473829" y="184150"/>
                  </a:lnTo>
                  <a:lnTo>
                    <a:pt x="4499229" y="184150"/>
                  </a:lnTo>
                  <a:lnTo>
                    <a:pt x="4499229" y="4112133"/>
                  </a:lnTo>
                  <a:lnTo>
                    <a:pt x="4473829" y="4112133"/>
                  </a:lnTo>
                  <a:lnTo>
                    <a:pt x="4499229" y="4112133"/>
                  </a:lnTo>
                  <a:cubicBezTo>
                    <a:pt x="4499229" y="4213860"/>
                    <a:pt x="4416679" y="4296283"/>
                    <a:pt x="4314952" y="4296283"/>
                  </a:cubicBezTo>
                  <a:lnTo>
                    <a:pt x="4314952" y="4270883"/>
                  </a:lnTo>
                  <a:lnTo>
                    <a:pt x="4314952" y="4296283"/>
                  </a:lnTo>
                  <a:lnTo>
                    <a:pt x="184277" y="4296283"/>
                  </a:lnTo>
                  <a:lnTo>
                    <a:pt x="184277" y="4270883"/>
                  </a:lnTo>
                  <a:lnTo>
                    <a:pt x="184277" y="4296283"/>
                  </a:lnTo>
                  <a:cubicBezTo>
                    <a:pt x="82550" y="4296410"/>
                    <a:pt x="0" y="4213860"/>
                    <a:pt x="0" y="411213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4112133"/>
                  </a:lnTo>
                  <a:lnTo>
                    <a:pt x="25400" y="4112133"/>
                  </a:lnTo>
                  <a:lnTo>
                    <a:pt x="50800" y="4112133"/>
                  </a:lnTo>
                  <a:cubicBezTo>
                    <a:pt x="50800" y="4185793"/>
                    <a:pt x="110490" y="4245483"/>
                    <a:pt x="184277" y="4245483"/>
                  </a:cubicBezTo>
                  <a:lnTo>
                    <a:pt x="4314952" y="4245483"/>
                  </a:lnTo>
                  <a:cubicBezTo>
                    <a:pt x="4388739" y="4245483"/>
                    <a:pt x="4448429" y="4185793"/>
                    <a:pt x="4448429" y="4112133"/>
                  </a:cubicBezTo>
                  <a:lnTo>
                    <a:pt x="4448429" y="184150"/>
                  </a:lnTo>
                  <a:cubicBezTo>
                    <a:pt x="4448429" y="110490"/>
                    <a:pt x="4388739" y="50800"/>
                    <a:pt x="4314952" y="50800"/>
                  </a:cubicBezTo>
                  <a:lnTo>
                    <a:pt x="184277" y="50800"/>
                  </a:lnTo>
                  <a:lnTo>
                    <a:pt x="184277" y="25400"/>
                  </a:lnTo>
                  <a:lnTo>
                    <a:pt x="184277" y="50800"/>
                  </a:lnTo>
                  <a:cubicBezTo>
                    <a:pt x="110490" y="50800"/>
                    <a:pt x="50800" y="110490"/>
                    <a:pt x="50800" y="18415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670677" y="3563988"/>
            <a:ext cx="2693041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Frontend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70677" y="4242797"/>
            <a:ext cx="2693041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HTML5 · CSS3 · JavaScript · PDF.js · Web Speech API · Chart.js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949810" y="3270942"/>
            <a:ext cx="3374384" cy="3222279"/>
            <a:chOff x="0" y="0"/>
            <a:chExt cx="4499178" cy="42963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4448429" cy="4245483"/>
            </a:xfrm>
            <a:custGeom>
              <a:avLst/>
              <a:gdLst/>
              <a:ahLst/>
              <a:cxnLst/>
              <a:rect r="r" b="b" t="t" l="l"/>
              <a:pathLst>
                <a:path h="4245483" w="4448429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4289552" y="0"/>
                  </a:lnTo>
                  <a:cubicBezTo>
                    <a:pt x="4377309" y="0"/>
                    <a:pt x="4448429" y="71120"/>
                    <a:pt x="4448429" y="158750"/>
                  </a:cubicBezTo>
                  <a:lnTo>
                    <a:pt x="4448429" y="4086733"/>
                  </a:lnTo>
                  <a:cubicBezTo>
                    <a:pt x="4448429" y="4174490"/>
                    <a:pt x="4377309" y="4245483"/>
                    <a:pt x="4289552" y="4245483"/>
                  </a:cubicBezTo>
                  <a:lnTo>
                    <a:pt x="158877" y="4245483"/>
                  </a:lnTo>
                  <a:cubicBezTo>
                    <a:pt x="71120" y="4245610"/>
                    <a:pt x="0" y="4174490"/>
                    <a:pt x="0" y="4086733"/>
                  </a:cubicBezTo>
                  <a:close/>
                </a:path>
              </a:pathLst>
            </a:custGeom>
            <a:solidFill>
              <a:srgbClr val="05050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99229" cy="4296283"/>
            </a:xfrm>
            <a:custGeom>
              <a:avLst/>
              <a:gdLst/>
              <a:ahLst/>
              <a:cxnLst/>
              <a:rect r="r" b="b" t="t" l="l"/>
              <a:pathLst>
                <a:path h="4296283" w="4499229">
                  <a:moveTo>
                    <a:pt x="0" y="184150"/>
                  </a:moveTo>
                  <a:cubicBezTo>
                    <a:pt x="0" y="82423"/>
                    <a:pt x="82550" y="0"/>
                    <a:pt x="184277" y="0"/>
                  </a:cubicBezTo>
                  <a:lnTo>
                    <a:pt x="4314952" y="0"/>
                  </a:lnTo>
                  <a:lnTo>
                    <a:pt x="4314952" y="25400"/>
                  </a:lnTo>
                  <a:lnTo>
                    <a:pt x="4314952" y="0"/>
                  </a:lnTo>
                  <a:cubicBezTo>
                    <a:pt x="4416679" y="0"/>
                    <a:pt x="4499229" y="82423"/>
                    <a:pt x="4499229" y="184150"/>
                  </a:cubicBezTo>
                  <a:lnTo>
                    <a:pt x="4473829" y="184150"/>
                  </a:lnTo>
                  <a:lnTo>
                    <a:pt x="4499229" y="184150"/>
                  </a:lnTo>
                  <a:lnTo>
                    <a:pt x="4499229" y="4112133"/>
                  </a:lnTo>
                  <a:lnTo>
                    <a:pt x="4473829" y="4112133"/>
                  </a:lnTo>
                  <a:lnTo>
                    <a:pt x="4499229" y="4112133"/>
                  </a:lnTo>
                  <a:cubicBezTo>
                    <a:pt x="4499229" y="4213860"/>
                    <a:pt x="4416679" y="4296283"/>
                    <a:pt x="4314952" y="4296283"/>
                  </a:cubicBezTo>
                  <a:lnTo>
                    <a:pt x="4314952" y="4270883"/>
                  </a:lnTo>
                  <a:lnTo>
                    <a:pt x="4314952" y="4296283"/>
                  </a:lnTo>
                  <a:lnTo>
                    <a:pt x="184277" y="4296283"/>
                  </a:lnTo>
                  <a:lnTo>
                    <a:pt x="184277" y="4270883"/>
                  </a:lnTo>
                  <a:lnTo>
                    <a:pt x="184277" y="4296283"/>
                  </a:lnTo>
                  <a:cubicBezTo>
                    <a:pt x="82550" y="4296410"/>
                    <a:pt x="0" y="4213860"/>
                    <a:pt x="0" y="411213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4112133"/>
                  </a:lnTo>
                  <a:lnTo>
                    <a:pt x="25400" y="4112133"/>
                  </a:lnTo>
                  <a:lnTo>
                    <a:pt x="50800" y="4112133"/>
                  </a:lnTo>
                  <a:cubicBezTo>
                    <a:pt x="50800" y="4185793"/>
                    <a:pt x="110490" y="4245483"/>
                    <a:pt x="184277" y="4245483"/>
                  </a:cubicBezTo>
                  <a:lnTo>
                    <a:pt x="4314952" y="4245483"/>
                  </a:lnTo>
                  <a:cubicBezTo>
                    <a:pt x="4388739" y="4245483"/>
                    <a:pt x="4448429" y="4185793"/>
                    <a:pt x="4448429" y="4112133"/>
                  </a:cubicBezTo>
                  <a:lnTo>
                    <a:pt x="4448429" y="184150"/>
                  </a:lnTo>
                  <a:cubicBezTo>
                    <a:pt x="4448429" y="110490"/>
                    <a:pt x="4388739" y="50800"/>
                    <a:pt x="4314952" y="50800"/>
                  </a:cubicBezTo>
                  <a:lnTo>
                    <a:pt x="184277" y="50800"/>
                  </a:lnTo>
                  <a:lnTo>
                    <a:pt x="184277" y="25400"/>
                  </a:lnTo>
                  <a:lnTo>
                    <a:pt x="184277" y="50800"/>
                  </a:lnTo>
                  <a:cubicBezTo>
                    <a:pt x="110490" y="50800"/>
                    <a:pt x="50800" y="110490"/>
                    <a:pt x="50800" y="18415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290472" y="3563988"/>
            <a:ext cx="2693041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Backend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90472" y="4242797"/>
            <a:ext cx="2693041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Node.js · Express.js handling the 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/analyze</a:t>
            </a: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endpoint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330015" y="6738642"/>
            <a:ext cx="6994179" cy="2315023"/>
            <a:chOff x="0" y="0"/>
            <a:chExt cx="9325572" cy="30866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5400" y="25400"/>
              <a:ext cx="9274683" cy="3035808"/>
            </a:xfrm>
            <a:custGeom>
              <a:avLst/>
              <a:gdLst/>
              <a:ahLst/>
              <a:cxnLst/>
              <a:rect r="r" b="b" t="t" l="l"/>
              <a:pathLst>
                <a:path h="3035808" w="9274683">
                  <a:moveTo>
                    <a:pt x="0" y="158750"/>
                  </a:moveTo>
                  <a:cubicBezTo>
                    <a:pt x="0" y="71120"/>
                    <a:pt x="71882" y="0"/>
                    <a:pt x="160528" y="0"/>
                  </a:cubicBezTo>
                  <a:lnTo>
                    <a:pt x="9114155" y="0"/>
                  </a:lnTo>
                  <a:cubicBezTo>
                    <a:pt x="9202801" y="0"/>
                    <a:pt x="9274683" y="71120"/>
                    <a:pt x="9274683" y="158750"/>
                  </a:cubicBezTo>
                  <a:lnTo>
                    <a:pt x="9274683" y="2877058"/>
                  </a:lnTo>
                  <a:cubicBezTo>
                    <a:pt x="9274683" y="2964688"/>
                    <a:pt x="9202801" y="3035808"/>
                    <a:pt x="9114155" y="3035808"/>
                  </a:cubicBezTo>
                  <a:lnTo>
                    <a:pt x="160528" y="3035808"/>
                  </a:lnTo>
                  <a:cubicBezTo>
                    <a:pt x="71882" y="3035808"/>
                    <a:pt x="0" y="2964688"/>
                    <a:pt x="0" y="2877058"/>
                  </a:cubicBezTo>
                  <a:close/>
                </a:path>
              </a:pathLst>
            </a:custGeom>
            <a:solidFill>
              <a:srgbClr val="05050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25483" cy="3086608"/>
            </a:xfrm>
            <a:custGeom>
              <a:avLst/>
              <a:gdLst/>
              <a:ahLst/>
              <a:cxnLst/>
              <a:rect r="r" b="b" t="t" l="l"/>
              <a:pathLst>
                <a:path h="3086608" w="9325483">
                  <a:moveTo>
                    <a:pt x="0" y="184150"/>
                  </a:moveTo>
                  <a:cubicBezTo>
                    <a:pt x="0" y="82169"/>
                    <a:pt x="83566" y="0"/>
                    <a:pt x="185928" y="0"/>
                  </a:cubicBezTo>
                  <a:lnTo>
                    <a:pt x="9139555" y="0"/>
                  </a:lnTo>
                  <a:lnTo>
                    <a:pt x="9139555" y="25400"/>
                  </a:lnTo>
                  <a:lnTo>
                    <a:pt x="9139555" y="0"/>
                  </a:lnTo>
                  <a:cubicBezTo>
                    <a:pt x="9242044" y="0"/>
                    <a:pt x="9325483" y="82169"/>
                    <a:pt x="9325483" y="184150"/>
                  </a:cubicBezTo>
                  <a:lnTo>
                    <a:pt x="9300083" y="184150"/>
                  </a:lnTo>
                  <a:lnTo>
                    <a:pt x="9325483" y="184150"/>
                  </a:lnTo>
                  <a:lnTo>
                    <a:pt x="9325483" y="2902458"/>
                  </a:lnTo>
                  <a:lnTo>
                    <a:pt x="9300083" y="2902458"/>
                  </a:lnTo>
                  <a:lnTo>
                    <a:pt x="9325483" y="2902458"/>
                  </a:lnTo>
                  <a:cubicBezTo>
                    <a:pt x="9325483" y="3004439"/>
                    <a:pt x="9241917" y="3086608"/>
                    <a:pt x="9139555" y="3086608"/>
                  </a:cubicBezTo>
                  <a:lnTo>
                    <a:pt x="9139555" y="3061208"/>
                  </a:lnTo>
                  <a:lnTo>
                    <a:pt x="9139555" y="3086608"/>
                  </a:lnTo>
                  <a:lnTo>
                    <a:pt x="185928" y="3086608"/>
                  </a:lnTo>
                  <a:lnTo>
                    <a:pt x="185928" y="3061208"/>
                  </a:lnTo>
                  <a:lnTo>
                    <a:pt x="185928" y="3086608"/>
                  </a:lnTo>
                  <a:cubicBezTo>
                    <a:pt x="83566" y="3086735"/>
                    <a:pt x="0" y="3004439"/>
                    <a:pt x="0" y="290245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902458"/>
                  </a:lnTo>
                  <a:lnTo>
                    <a:pt x="25400" y="2902458"/>
                  </a:lnTo>
                  <a:lnTo>
                    <a:pt x="50800" y="2902458"/>
                  </a:lnTo>
                  <a:cubicBezTo>
                    <a:pt x="50800" y="2975864"/>
                    <a:pt x="110998" y="3035808"/>
                    <a:pt x="185928" y="3035808"/>
                  </a:cubicBezTo>
                  <a:lnTo>
                    <a:pt x="9139555" y="3035808"/>
                  </a:lnTo>
                  <a:cubicBezTo>
                    <a:pt x="9214486" y="3035808"/>
                    <a:pt x="9274683" y="2975864"/>
                    <a:pt x="9274683" y="2902458"/>
                  </a:cubicBezTo>
                  <a:lnTo>
                    <a:pt x="9274683" y="184150"/>
                  </a:lnTo>
                  <a:cubicBezTo>
                    <a:pt x="9274683" y="110744"/>
                    <a:pt x="9214486" y="50800"/>
                    <a:pt x="9139555" y="50800"/>
                  </a:cubicBezTo>
                  <a:lnTo>
                    <a:pt x="185928" y="50800"/>
                  </a:lnTo>
                  <a:lnTo>
                    <a:pt x="185928" y="25400"/>
                  </a:lnTo>
                  <a:lnTo>
                    <a:pt x="185928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670677" y="7031679"/>
            <a:ext cx="3544043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AI Engine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70677" y="7710488"/>
            <a:ext cx="631284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Gemini 2.5 Flash Lite — fast, lightweight, and highly capable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76891"/>
            <a:ext cx="8638727" cy="81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Demo Flow &amp; Scoring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80034"/>
            <a:ext cx="3012434" cy="40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User Journey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748858"/>
            <a:ext cx="481908" cy="3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196380"/>
            <a:ext cx="7857830" cy="28575"/>
            <a:chOff x="0" y="0"/>
            <a:chExt cx="10477106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77119" cy="38100"/>
            </a:xfrm>
            <a:custGeom>
              <a:avLst/>
              <a:gdLst/>
              <a:ahLst/>
              <a:cxnLst/>
              <a:rect r="r" b="b" t="t" l="l"/>
              <a:pathLst>
                <a:path h="38100" w="10477119">
                  <a:moveTo>
                    <a:pt x="0" y="0"/>
                  </a:moveTo>
                  <a:lnTo>
                    <a:pt x="10477119" y="0"/>
                  </a:lnTo>
                  <a:lnTo>
                    <a:pt x="1047711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3316786"/>
            <a:ext cx="7857830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Login → Upload PDF (optional) → Start Lecture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049316"/>
            <a:ext cx="481908" cy="3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4496838"/>
            <a:ext cx="7857830" cy="28575"/>
            <a:chOff x="0" y="0"/>
            <a:chExt cx="10477106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77119" cy="38100"/>
            </a:xfrm>
            <a:custGeom>
              <a:avLst/>
              <a:gdLst/>
              <a:ahLst/>
              <a:cxnLst/>
              <a:rect r="r" b="b" t="t" l="l"/>
              <a:pathLst>
                <a:path h="38100" w="10477119">
                  <a:moveTo>
                    <a:pt x="0" y="0"/>
                  </a:moveTo>
                  <a:lnTo>
                    <a:pt x="10477119" y="0"/>
                  </a:lnTo>
                  <a:lnTo>
                    <a:pt x="1047711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2238" y="4617244"/>
            <a:ext cx="7857830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Speak or type your teaching explanation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5349773"/>
            <a:ext cx="481908" cy="3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5797306"/>
            <a:ext cx="7857830" cy="28575"/>
            <a:chOff x="0" y="0"/>
            <a:chExt cx="10477106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77119" cy="38100"/>
            </a:xfrm>
            <a:custGeom>
              <a:avLst/>
              <a:gdLst/>
              <a:ahLst/>
              <a:cxnLst/>
              <a:rect r="r" b="b" t="t" l="l"/>
              <a:pathLst>
                <a:path h="38100" w="10477119">
                  <a:moveTo>
                    <a:pt x="0" y="0"/>
                  </a:moveTo>
                  <a:lnTo>
                    <a:pt x="10477119" y="0"/>
                  </a:lnTo>
                  <a:lnTo>
                    <a:pt x="1047711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2238" y="5917702"/>
            <a:ext cx="7857830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AI analyses → Students react with bubbles &amp; emojis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6650241"/>
            <a:ext cx="481908" cy="3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7097763"/>
            <a:ext cx="7857830" cy="28575"/>
            <a:chOff x="0" y="0"/>
            <a:chExt cx="10477106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77119" cy="38100"/>
            </a:xfrm>
            <a:custGeom>
              <a:avLst/>
              <a:gdLst/>
              <a:ahLst/>
              <a:cxnLst/>
              <a:rect r="r" b="b" t="t" l="l"/>
              <a:pathLst>
                <a:path h="38100" w="10477119">
                  <a:moveTo>
                    <a:pt x="0" y="0"/>
                  </a:moveTo>
                  <a:lnTo>
                    <a:pt x="10477119" y="0"/>
                  </a:lnTo>
                  <a:lnTo>
                    <a:pt x="1047711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92238" y="7218159"/>
            <a:ext cx="7857830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Alignment meter updates live as you teach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7950698"/>
            <a:ext cx="481908" cy="36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238" y="8398221"/>
            <a:ext cx="7857830" cy="28575"/>
            <a:chOff x="0" y="0"/>
            <a:chExt cx="10477106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77119" cy="38100"/>
            </a:xfrm>
            <a:custGeom>
              <a:avLst/>
              <a:gdLst/>
              <a:ahLst/>
              <a:cxnLst/>
              <a:rect r="r" b="b" t="t" l="l"/>
              <a:pathLst>
                <a:path h="38100" w="10477119">
                  <a:moveTo>
                    <a:pt x="0" y="0"/>
                  </a:moveTo>
                  <a:lnTo>
                    <a:pt x="10477119" y="0"/>
                  </a:lnTo>
                  <a:lnTo>
                    <a:pt x="1047711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92238" y="8518627"/>
            <a:ext cx="7857830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End Lecture → View comprehensive feedback report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47457" y="2180034"/>
            <a:ext cx="3012434" cy="40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Scoring Rubric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42694" y="2810770"/>
            <a:ext cx="7867355" cy="3172720"/>
            <a:chOff x="0" y="0"/>
            <a:chExt cx="10489806" cy="42302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9819" cy="4230370"/>
            </a:xfrm>
            <a:custGeom>
              <a:avLst/>
              <a:gdLst/>
              <a:ahLst/>
              <a:cxnLst/>
              <a:rect r="r" b="b" t="t" l="l"/>
              <a:pathLst>
                <a:path h="4230370" w="10489819">
                  <a:moveTo>
                    <a:pt x="0" y="141351"/>
                  </a:moveTo>
                  <a:cubicBezTo>
                    <a:pt x="0" y="63246"/>
                    <a:pt x="63373" y="0"/>
                    <a:pt x="141605" y="0"/>
                  </a:cubicBezTo>
                  <a:lnTo>
                    <a:pt x="10348214" y="0"/>
                  </a:lnTo>
                  <a:lnTo>
                    <a:pt x="10348214" y="6350"/>
                  </a:lnTo>
                  <a:lnTo>
                    <a:pt x="10348214" y="0"/>
                  </a:lnTo>
                  <a:cubicBezTo>
                    <a:pt x="10426319" y="0"/>
                    <a:pt x="10489819" y="63246"/>
                    <a:pt x="10489819" y="141351"/>
                  </a:cubicBezTo>
                  <a:lnTo>
                    <a:pt x="10483469" y="141351"/>
                  </a:lnTo>
                  <a:lnTo>
                    <a:pt x="10489819" y="141351"/>
                  </a:lnTo>
                  <a:lnTo>
                    <a:pt x="10489819" y="4089019"/>
                  </a:lnTo>
                  <a:lnTo>
                    <a:pt x="10483469" y="4089019"/>
                  </a:lnTo>
                  <a:lnTo>
                    <a:pt x="10489819" y="4089019"/>
                  </a:lnTo>
                  <a:cubicBezTo>
                    <a:pt x="10489819" y="4167124"/>
                    <a:pt x="10426446" y="4230370"/>
                    <a:pt x="10348214" y="4230370"/>
                  </a:cubicBezTo>
                  <a:lnTo>
                    <a:pt x="10348214" y="4224020"/>
                  </a:lnTo>
                  <a:lnTo>
                    <a:pt x="10348214" y="4230370"/>
                  </a:lnTo>
                  <a:lnTo>
                    <a:pt x="141605" y="4230370"/>
                  </a:lnTo>
                  <a:lnTo>
                    <a:pt x="141605" y="4224020"/>
                  </a:lnTo>
                  <a:lnTo>
                    <a:pt x="141605" y="4230370"/>
                  </a:lnTo>
                  <a:cubicBezTo>
                    <a:pt x="63373" y="4230243"/>
                    <a:pt x="0" y="4166997"/>
                    <a:pt x="0" y="4089019"/>
                  </a:cubicBezTo>
                  <a:lnTo>
                    <a:pt x="0" y="141351"/>
                  </a:lnTo>
                  <a:lnTo>
                    <a:pt x="6350" y="141351"/>
                  </a:lnTo>
                  <a:lnTo>
                    <a:pt x="0" y="141351"/>
                  </a:lnTo>
                  <a:moveTo>
                    <a:pt x="12700" y="141351"/>
                  </a:moveTo>
                  <a:lnTo>
                    <a:pt x="12700" y="4089019"/>
                  </a:lnTo>
                  <a:lnTo>
                    <a:pt x="6350" y="4089019"/>
                  </a:lnTo>
                  <a:lnTo>
                    <a:pt x="12700" y="4089019"/>
                  </a:lnTo>
                  <a:cubicBezTo>
                    <a:pt x="12700" y="4160012"/>
                    <a:pt x="70358" y="4217670"/>
                    <a:pt x="141605" y="4217670"/>
                  </a:cubicBezTo>
                  <a:lnTo>
                    <a:pt x="10348214" y="4217670"/>
                  </a:lnTo>
                  <a:cubicBezTo>
                    <a:pt x="10419334" y="4217670"/>
                    <a:pt x="10477119" y="4160139"/>
                    <a:pt x="10477119" y="4089019"/>
                  </a:cubicBezTo>
                  <a:lnTo>
                    <a:pt x="10477119" y="141351"/>
                  </a:lnTo>
                  <a:cubicBezTo>
                    <a:pt x="10477119" y="70231"/>
                    <a:pt x="10419461" y="12700"/>
                    <a:pt x="10348214" y="12700"/>
                  </a:cubicBezTo>
                  <a:lnTo>
                    <a:pt x="141605" y="12700"/>
                  </a:lnTo>
                  <a:lnTo>
                    <a:pt x="141605" y="6350"/>
                  </a:lnTo>
                  <a:lnTo>
                    <a:pt x="141605" y="12700"/>
                  </a:lnTo>
                  <a:cubicBezTo>
                    <a:pt x="70358" y="12700"/>
                    <a:pt x="12700" y="70231"/>
                    <a:pt x="12700" y="141351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698088" y="2900210"/>
            <a:ext cx="1472956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Score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62467" y="2900210"/>
            <a:ext cx="2644083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Meaning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797983" y="2900210"/>
            <a:ext cx="2256834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Visual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98088" y="3530946"/>
            <a:ext cx="1472956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80–100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62467" y="3530946"/>
            <a:ext cx="2644083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Excellent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97983" y="3530946"/>
            <a:ext cx="2256834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🌟</a:t>
            </a: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Green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98088" y="4161682"/>
            <a:ext cx="1472956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60–79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62467" y="4161682"/>
            <a:ext cx="2644083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Good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797983" y="4161682"/>
            <a:ext cx="2256834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👍</a:t>
            </a: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Yellow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98088" y="4792418"/>
            <a:ext cx="1472956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40–59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62467" y="4792418"/>
            <a:ext cx="2644083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Needs Work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797983" y="4792418"/>
            <a:ext cx="2256834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📈</a:t>
            </a: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Orange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98088" y="5423144"/>
            <a:ext cx="1472956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&lt;40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662467" y="5423144"/>
            <a:ext cx="2644083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Beginner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797983" y="5423144"/>
            <a:ext cx="2256834" cy="41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📚</a:t>
            </a:r>
            <a:r>
              <a:rPr lang="en-US" sz="187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Red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447457" y="6209109"/>
            <a:ext cx="7857830" cy="1639338"/>
            <a:chOff x="0" y="0"/>
            <a:chExt cx="10477106" cy="21857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77119" cy="2185797"/>
            </a:xfrm>
            <a:custGeom>
              <a:avLst/>
              <a:gdLst/>
              <a:ahLst/>
              <a:cxnLst/>
              <a:rect r="r" b="b" t="t" l="l"/>
              <a:pathLst>
                <a:path h="2185797" w="10477119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10342118" y="0"/>
                  </a:lnTo>
                  <a:cubicBezTo>
                    <a:pt x="10416667" y="0"/>
                    <a:pt x="10477119" y="60452"/>
                    <a:pt x="10477119" y="135001"/>
                  </a:cubicBezTo>
                  <a:lnTo>
                    <a:pt x="10477119" y="2050796"/>
                  </a:lnTo>
                  <a:cubicBezTo>
                    <a:pt x="10477119" y="2125345"/>
                    <a:pt x="10416667" y="2185797"/>
                    <a:pt x="10342118" y="2185797"/>
                  </a:cubicBezTo>
                  <a:lnTo>
                    <a:pt x="135001" y="2185797"/>
                  </a:lnTo>
                  <a:cubicBezTo>
                    <a:pt x="60452" y="2185797"/>
                    <a:pt x="0" y="2125345"/>
                    <a:pt x="0" y="2050796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688411" y="6556477"/>
            <a:ext cx="301228" cy="240954"/>
            <a:chOff x="0" y="0"/>
            <a:chExt cx="401638" cy="321272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401701" cy="321310"/>
            </a:xfrm>
            <a:custGeom>
              <a:avLst/>
              <a:gdLst/>
              <a:ahLst/>
              <a:cxnLst/>
              <a:rect r="r" b="b" t="t" l="l"/>
              <a:pathLst>
                <a:path h="321310" w="401701">
                  <a:moveTo>
                    <a:pt x="0" y="0"/>
                  </a:moveTo>
                  <a:lnTo>
                    <a:pt x="401701" y="0"/>
                  </a:lnTo>
                  <a:lnTo>
                    <a:pt x="401701" y="321310"/>
                  </a:lnTo>
                  <a:lnTo>
                    <a:pt x="0" y="321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91" t="0" r="-1179" b="11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0230593" y="6416878"/>
            <a:ext cx="6833740" cy="112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Single-button lecture control, live PDF alignment meter, and a Judge Dashboard with real-time charts make the experience seamless for both teachers and evaluators.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201341"/>
            <a:ext cx="7460904" cy="77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Impact &amp; Future Roadmap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392118"/>
            <a:ext cx="2835326" cy="3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Why It Matters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2918374"/>
            <a:ext cx="444608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b="true" sz="1750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Democratises</a:t>
            </a:r>
            <a:r>
              <a:rPr lang="en-US" sz="17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teacher training — practise anytime, anywhere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Reduces dependency on </a:t>
            </a:r>
            <a:r>
              <a:rPr lang="en-US" b="true" sz="1750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real students</a:t>
            </a:r>
            <a:r>
              <a:rPr lang="en-US" sz="17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for skill development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Delivers </a:t>
            </a:r>
            <a:r>
              <a:rPr lang="en-US" b="true" sz="1750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objective, data-driven</a:t>
            </a:r>
            <a:r>
              <a:rPr lang="en-US" sz="17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feedback at every session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01198" y="2392118"/>
            <a:ext cx="2835326" cy="3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What's Next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996435" y="2983859"/>
            <a:ext cx="4455614" cy="836562"/>
            <a:chOff x="0" y="0"/>
            <a:chExt cx="5940819" cy="11154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5928233" cy="1102741"/>
            </a:xfrm>
            <a:custGeom>
              <a:avLst/>
              <a:gdLst/>
              <a:ahLst/>
              <a:cxnLst/>
              <a:rect r="r" b="b" t="t" l="l"/>
              <a:pathLst>
                <a:path h="1102741" w="5928233">
                  <a:moveTo>
                    <a:pt x="0" y="127000"/>
                  </a:moveTo>
                  <a:cubicBezTo>
                    <a:pt x="0" y="56896"/>
                    <a:pt x="57404" y="0"/>
                    <a:pt x="128270" y="0"/>
                  </a:cubicBezTo>
                  <a:lnTo>
                    <a:pt x="5799963" y="0"/>
                  </a:lnTo>
                  <a:cubicBezTo>
                    <a:pt x="5870829" y="0"/>
                    <a:pt x="5928233" y="56896"/>
                    <a:pt x="5928233" y="127000"/>
                  </a:cubicBezTo>
                  <a:lnTo>
                    <a:pt x="5928233" y="975741"/>
                  </a:lnTo>
                  <a:cubicBezTo>
                    <a:pt x="5928233" y="1045845"/>
                    <a:pt x="5870829" y="1102741"/>
                    <a:pt x="5799963" y="1102741"/>
                  </a:cubicBezTo>
                  <a:lnTo>
                    <a:pt x="128270" y="1102741"/>
                  </a:lnTo>
                  <a:cubicBezTo>
                    <a:pt x="57404" y="1102741"/>
                    <a:pt x="0" y="1045845"/>
                    <a:pt x="0" y="975741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0933" cy="1115441"/>
            </a:xfrm>
            <a:custGeom>
              <a:avLst/>
              <a:gdLst/>
              <a:ahLst/>
              <a:cxnLst/>
              <a:rect r="r" b="b" t="t" l="l"/>
              <a:pathLst>
                <a:path h="1115441" w="5940933">
                  <a:moveTo>
                    <a:pt x="0" y="133350"/>
                  </a:moveTo>
                  <a:cubicBezTo>
                    <a:pt x="0" y="59690"/>
                    <a:pt x="60325" y="0"/>
                    <a:pt x="134620" y="0"/>
                  </a:cubicBezTo>
                  <a:lnTo>
                    <a:pt x="5806313" y="0"/>
                  </a:lnTo>
                  <a:lnTo>
                    <a:pt x="5806313" y="6350"/>
                  </a:lnTo>
                  <a:lnTo>
                    <a:pt x="5806313" y="0"/>
                  </a:lnTo>
                  <a:cubicBezTo>
                    <a:pt x="5880608" y="0"/>
                    <a:pt x="5940933" y="59690"/>
                    <a:pt x="5940933" y="133350"/>
                  </a:cubicBezTo>
                  <a:lnTo>
                    <a:pt x="5934583" y="133350"/>
                  </a:lnTo>
                  <a:lnTo>
                    <a:pt x="5940933" y="133350"/>
                  </a:lnTo>
                  <a:lnTo>
                    <a:pt x="5940933" y="982091"/>
                  </a:lnTo>
                  <a:lnTo>
                    <a:pt x="5934583" y="982091"/>
                  </a:lnTo>
                  <a:lnTo>
                    <a:pt x="5940933" y="982091"/>
                  </a:lnTo>
                  <a:cubicBezTo>
                    <a:pt x="5940933" y="1055751"/>
                    <a:pt x="5880608" y="1115441"/>
                    <a:pt x="5806313" y="1115441"/>
                  </a:cubicBezTo>
                  <a:lnTo>
                    <a:pt x="5806313" y="1109091"/>
                  </a:lnTo>
                  <a:lnTo>
                    <a:pt x="5806313" y="1115441"/>
                  </a:lnTo>
                  <a:lnTo>
                    <a:pt x="134620" y="1115441"/>
                  </a:lnTo>
                  <a:lnTo>
                    <a:pt x="134620" y="1109091"/>
                  </a:lnTo>
                  <a:lnTo>
                    <a:pt x="134620" y="1115441"/>
                  </a:lnTo>
                  <a:cubicBezTo>
                    <a:pt x="60325" y="1115441"/>
                    <a:pt x="0" y="1055751"/>
                    <a:pt x="0" y="982091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982091"/>
                  </a:lnTo>
                  <a:lnTo>
                    <a:pt x="6350" y="982091"/>
                  </a:lnTo>
                  <a:lnTo>
                    <a:pt x="12700" y="982091"/>
                  </a:lnTo>
                  <a:cubicBezTo>
                    <a:pt x="12700" y="1048639"/>
                    <a:pt x="67183" y="1102741"/>
                    <a:pt x="134620" y="1102741"/>
                  </a:cubicBezTo>
                  <a:lnTo>
                    <a:pt x="5806313" y="1102741"/>
                  </a:lnTo>
                  <a:cubicBezTo>
                    <a:pt x="5873623" y="1102741"/>
                    <a:pt x="5928233" y="1048639"/>
                    <a:pt x="5928233" y="982091"/>
                  </a:cubicBezTo>
                  <a:lnTo>
                    <a:pt x="5928233" y="133350"/>
                  </a:lnTo>
                  <a:cubicBezTo>
                    <a:pt x="5928233" y="66802"/>
                    <a:pt x="5873750" y="12700"/>
                    <a:pt x="5806313" y="12700"/>
                  </a:cubicBezTo>
                  <a:lnTo>
                    <a:pt x="134620" y="12700"/>
                  </a:lnTo>
                  <a:lnTo>
                    <a:pt x="134620" y="6350"/>
                  </a:lnTo>
                  <a:lnTo>
                    <a:pt x="134620" y="12700"/>
                  </a:lnTo>
                  <a:cubicBezTo>
                    <a:pt x="67183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237532" y="3186855"/>
            <a:ext cx="3778301" cy="3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🌐</a:t>
            </a:r>
            <a:r>
              <a:rPr lang="en-US" sz="2187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 Multi-language Support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96435" y="3992318"/>
            <a:ext cx="4455614" cy="1190920"/>
            <a:chOff x="0" y="0"/>
            <a:chExt cx="5940819" cy="15878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5928106" cy="1575181"/>
            </a:xfrm>
            <a:custGeom>
              <a:avLst/>
              <a:gdLst/>
              <a:ahLst/>
              <a:cxnLst/>
              <a:rect r="r" b="b" t="t" l="l"/>
              <a:pathLst>
                <a:path h="1575181" w="5928106">
                  <a:moveTo>
                    <a:pt x="0" y="127000"/>
                  </a:moveTo>
                  <a:cubicBezTo>
                    <a:pt x="0" y="56896"/>
                    <a:pt x="57150" y="0"/>
                    <a:pt x="127762" y="0"/>
                  </a:cubicBezTo>
                  <a:lnTo>
                    <a:pt x="5800344" y="0"/>
                  </a:lnTo>
                  <a:cubicBezTo>
                    <a:pt x="5870956" y="0"/>
                    <a:pt x="5928106" y="56896"/>
                    <a:pt x="5928106" y="127000"/>
                  </a:cubicBezTo>
                  <a:lnTo>
                    <a:pt x="5928106" y="1448181"/>
                  </a:lnTo>
                  <a:cubicBezTo>
                    <a:pt x="5928106" y="1518285"/>
                    <a:pt x="5870956" y="1575181"/>
                    <a:pt x="5800344" y="1575181"/>
                  </a:cubicBezTo>
                  <a:lnTo>
                    <a:pt x="127762" y="1575181"/>
                  </a:lnTo>
                  <a:cubicBezTo>
                    <a:pt x="57150" y="1575181"/>
                    <a:pt x="0" y="1518285"/>
                    <a:pt x="0" y="1448181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0806" cy="1587881"/>
            </a:xfrm>
            <a:custGeom>
              <a:avLst/>
              <a:gdLst/>
              <a:ahLst/>
              <a:cxnLst/>
              <a:rect r="r" b="b" t="t" l="l"/>
              <a:pathLst>
                <a:path h="1587881" w="5940806">
                  <a:moveTo>
                    <a:pt x="0" y="133350"/>
                  </a:moveTo>
                  <a:cubicBezTo>
                    <a:pt x="0" y="59690"/>
                    <a:pt x="60071" y="0"/>
                    <a:pt x="134112" y="0"/>
                  </a:cubicBezTo>
                  <a:lnTo>
                    <a:pt x="5806694" y="0"/>
                  </a:lnTo>
                  <a:lnTo>
                    <a:pt x="5806694" y="6350"/>
                  </a:lnTo>
                  <a:lnTo>
                    <a:pt x="5806694" y="0"/>
                  </a:lnTo>
                  <a:cubicBezTo>
                    <a:pt x="5880735" y="0"/>
                    <a:pt x="5940806" y="59690"/>
                    <a:pt x="5940806" y="133350"/>
                  </a:cubicBezTo>
                  <a:lnTo>
                    <a:pt x="5934456" y="133350"/>
                  </a:lnTo>
                  <a:lnTo>
                    <a:pt x="5940806" y="133350"/>
                  </a:lnTo>
                  <a:lnTo>
                    <a:pt x="5940806" y="1454531"/>
                  </a:lnTo>
                  <a:lnTo>
                    <a:pt x="5934456" y="1454531"/>
                  </a:lnTo>
                  <a:lnTo>
                    <a:pt x="5940806" y="1454531"/>
                  </a:lnTo>
                  <a:cubicBezTo>
                    <a:pt x="5940806" y="1528191"/>
                    <a:pt x="5880735" y="1587881"/>
                    <a:pt x="5806694" y="1587881"/>
                  </a:cubicBezTo>
                  <a:lnTo>
                    <a:pt x="5806694" y="1581531"/>
                  </a:lnTo>
                  <a:lnTo>
                    <a:pt x="5806694" y="1587881"/>
                  </a:lnTo>
                  <a:lnTo>
                    <a:pt x="134112" y="1587881"/>
                  </a:lnTo>
                  <a:lnTo>
                    <a:pt x="134112" y="1581531"/>
                  </a:lnTo>
                  <a:lnTo>
                    <a:pt x="134112" y="1587881"/>
                  </a:lnTo>
                  <a:cubicBezTo>
                    <a:pt x="60071" y="1587881"/>
                    <a:pt x="0" y="1528191"/>
                    <a:pt x="0" y="1454531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1454531"/>
                  </a:lnTo>
                  <a:lnTo>
                    <a:pt x="6350" y="1454531"/>
                  </a:lnTo>
                  <a:lnTo>
                    <a:pt x="12700" y="1454531"/>
                  </a:lnTo>
                  <a:cubicBezTo>
                    <a:pt x="12700" y="1521079"/>
                    <a:pt x="67056" y="1575181"/>
                    <a:pt x="134112" y="1575181"/>
                  </a:cubicBezTo>
                  <a:lnTo>
                    <a:pt x="5806694" y="1575181"/>
                  </a:lnTo>
                  <a:cubicBezTo>
                    <a:pt x="5873750" y="1575181"/>
                    <a:pt x="5928106" y="1521079"/>
                    <a:pt x="5928106" y="1454531"/>
                  </a:cubicBezTo>
                  <a:lnTo>
                    <a:pt x="5928106" y="133350"/>
                  </a:lnTo>
                  <a:cubicBezTo>
                    <a:pt x="5928106" y="66802"/>
                    <a:pt x="5873750" y="12700"/>
                    <a:pt x="5806694" y="12700"/>
                  </a:cubicBezTo>
                  <a:lnTo>
                    <a:pt x="134112" y="12700"/>
                  </a:lnTo>
                  <a:lnTo>
                    <a:pt x="134112" y="6350"/>
                  </a:lnTo>
                  <a:lnTo>
                    <a:pt x="134112" y="12700"/>
                  </a:lnTo>
                  <a:cubicBezTo>
                    <a:pt x="67056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237532" y="4195315"/>
            <a:ext cx="3973411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👥</a:t>
            </a:r>
            <a:r>
              <a:rPr lang="en-US" sz="2187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Collaborative Classrooms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996435" y="5355136"/>
            <a:ext cx="4455614" cy="1190920"/>
            <a:chOff x="0" y="0"/>
            <a:chExt cx="5940819" cy="15878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5928106" cy="1575181"/>
            </a:xfrm>
            <a:custGeom>
              <a:avLst/>
              <a:gdLst/>
              <a:ahLst/>
              <a:cxnLst/>
              <a:rect r="r" b="b" t="t" l="l"/>
              <a:pathLst>
                <a:path h="1575181" w="5928106">
                  <a:moveTo>
                    <a:pt x="0" y="127000"/>
                  </a:moveTo>
                  <a:cubicBezTo>
                    <a:pt x="0" y="56896"/>
                    <a:pt x="57150" y="0"/>
                    <a:pt x="127762" y="0"/>
                  </a:cubicBezTo>
                  <a:lnTo>
                    <a:pt x="5800344" y="0"/>
                  </a:lnTo>
                  <a:cubicBezTo>
                    <a:pt x="5870956" y="0"/>
                    <a:pt x="5928106" y="56896"/>
                    <a:pt x="5928106" y="127000"/>
                  </a:cubicBezTo>
                  <a:lnTo>
                    <a:pt x="5928106" y="1448181"/>
                  </a:lnTo>
                  <a:cubicBezTo>
                    <a:pt x="5928106" y="1518285"/>
                    <a:pt x="5870956" y="1575181"/>
                    <a:pt x="5800344" y="1575181"/>
                  </a:cubicBezTo>
                  <a:lnTo>
                    <a:pt x="127762" y="1575181"/>
                  </a:lnTo>
                  <a:cubicBezTo>
                    <a:pt x="57150" y="1575181"/>
                    <a:pt x="0" y="1518285"/>
                    <a:pt x="0" y="1448181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0806" cy="1587881"/>
            </a:xfrm>
            <a:custGeom>
              <a:avLst/>
              <a:gdLst/>
              <a:ahLst/>
              <a:cxnLst/>
              <a:rect r="r" b="b" t="t" l="l"/>
              <a:pathLst>
                <a:path h="1587881" w="5940806">
                  <a:moveTo>
                    <a:pt x="0" y="133350"/>
                  </a:moveTo>
                  <a:cubicBezTo>
                    <a:pt x="0" y="59690"/>
                    <a:pt x="60071" y="0"/>
                    <a:pt x="134112" y="0"/>
                  </a:cubicBezTo>
                  <a:lnTo>
                    <a:pt x="5806694" y="0"/>
                  </a:lnTo>
                  <a:lnTo>
                    <a:pt x="5806694" y="6350"/>
                  </a:lnTo>
                  <a:lnTo>
                    <a:pt x="5806694" y="0"/>
                  </a:lnTo>
                  <a:cubicBezTo>
                    <a:pt x="5880735" y="0"/>
                    <a:pt x="5940806" y="59690"/>
                    <a:pt x="5940806" y="133350"/>
                  </a:cubicBezTo>
                  <a:lnTo>
                    <a:pt x="5934456" y="133350"/>
                  </a:lnTo>
                  <a:lnTo>
                    <a:pt x="5940806" y="133350"/>
                  </a:lnTo>
                  <a:lnTo>
                    <a:pt x="5940806" y="1454531"/>
                  </a:lnTo>
                  <a:lnTo>
                    <a:pt x="5934456" y="1454531"/>
                  </a:lnTo>
                  <a:lnTo>
                    <a:pt x="5940806" y="1454531"/>
                  </a:lnTo>
                  <a:cubicBezTo>
                    <a:pt x="5940806" y="1528191"/>
                    <a:pt x="5880735" y="1587881"/>
                    <a:pt x="5806694" y="1587881"/>
                  </a:cubicBezTo>
                  <a:lnTo>
                    <a:pt x="5806694" y="1581531"/>
                  </a:lnTo>
                  <a:lnTo>
                    <a:pt x="5806694" y="1587881"/>
                  </a:lnTo>
                  <a:lnTo>
                    <a:pt x="134112" y="1587881"/>
                  </a:lnTo>
                  <a:lnTo>
                    <a:pt x="134112" y="1581531"/>
                  </a:lnTo>
                  <a:lnTo>
                    <a:pt x="134112" y="1587881"/>
                  </a:lnTo>
                  <a:cubicBezTo>
                    <a:pt x="60071" y="1587881"/>
                    <a:pt x="0" y="1528191"/>
                    <a:pt x="0" y="1454531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1454531"/>
                  </a:lnTo>
                  <a:lnTo>
                    <a:pt x="6350" y="1454531"/>
                  </a:lnTo>
                  <a:lnTo>
                    <a:pt x="12700" y="1454531"/>
                  </a:lnTo>
                  <a:cubicBezTo>
                    <a:pt x="12700" y="1521079"/>
                    <a:pt x="67056" y="1575181"/>
                    <a:pt x="134112" y="1575181"/>
                  </a:cubicBezTo>
                  <a:lnTo>
                    <a:pt x="5806694" y="1575181"/>
                  </a:lnTo>
                  <a:cubicBezTo>
                    <a:pt x="5873750" y="1575181"/>
                    <a:pt x="5928106" y="1521079"/>
                    <a:pt x="5928106" y="1454531"/>
                  </a:cubicBezTo>
                  <a:lnTo>
                    <a:pt x="5928106" y="133350"/>
                  </a:lnTo>
                  <a:cubicBezTo>
                    <a:pt x="5928106" y="66802"/>
                    <a:pt x="5873750" y="12700"/>
                    <a:pt x="5806694" y="12700"/>
                  </a:cubicBezTo>
                  <a:lnTo>
                    <a:pt x="134112" y="12700"/>
                  </a:lnTo>
                  <a:lnTo>
                    <a:pt x="134112" y="6350"/>
                  </a:lnTo>
                  <a:lnTo>
                    <a:pt x="134112" y="12700"/>
                  </a:lnTo>
                  <a:cubicBezTo>
                    <a:pt x="67056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237532" y="5558133"/>
            <a:ext cx="3973411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📊</a:t>
            </a:r>
            <a:r>
              <a:rPr lang="en-US" sz="2187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 Advanced Analytics Dashboard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996435" y="6717954"/>
            <a:ext cx="4455614" cy="836562"/>
            <a:chOff x="0" y="0"/>
            <a:chExt cx="5940819" cy="11154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5928233" cy="1102741"/>
            </a:xfrm>
            <a:custGeom>
              <a:avLst/>
              <a:gdLst/>
              <a:ahLst/>
              <a:cxnLst/>
              <a:rect r="r" b="b" t="t" l="l"/>
              <a:pathLst>
                <a:path h="1102741" w="5928233">
                  <a:moveTo>
                    <a:pt x="0" y="127000"/>
                  </a:moveTo>
                  <a:cubicBezTo>
                    <a:pt x="0" y="56896"/>
                    <a:pt x="57404" y="0"/>
                    <a:pt x="128270" y="0"/>
                  </a:cubicBezTo>
                  <a:lnTo>
                    <a:pt x="5799963" y="0"/>
                  </a:lnTo>
                  <a:cubicBezTo>
                    <a:pt x="5870829" y="0"/>
                    <a:pt x="5928233" y="56896"/>
                    <a:pt x="5928233" y="127000"/>
                  </a:cubicBezTo>
                  <a:lnTo>
                    <a:pt x="5928233" y="975741"/>
                  </a:lnTo>
                  <a:cubicBezTo>
                    <a:pt x="5928233" y="1045845"/>
                    <a:pt x="5870829" y="1102741"/>
                    <a:pt x="5799963" y="1102741"/>
                  </a:cubicBezTo>
                  <a:lnTo>
                    <a:pt x="128270" y="1102741"/>
                  </a:lnTo>
                  <a:cubicBezTo>
                    <a:pt x="57404" y="1102741"/>
                    <a:pt x="0" y="1045845"/>
                    <a:pt x="0" y="975741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40933" cy="1115441"/>
            </a:xfrm>
            <a:custGeom>
              <a:avLst/>
              <a:gdLst/>
              <a:ahLst/>
              <a:cxnLst/>
              <a:rect r="r" b="b" t="t" l="l"/>
              <a:pathLst>
                <a:path h="1115441" w="5940933">
                  <a:moveTo>
                    <a:pt x="0" y="133350"/>
                  </a:moveTo>
                  <a:cubicBezTo>
                    <a:pt x="0" y="59690"/>
                    <a:pt x="60325" y="0"/>
                    <a:pt x="134620" y="0"/>
                  </a:cubicBezTo>
                  <a:lnTo>
                    <a:pt x="5806313" y="0"/>
                  </a:lnTo>
                  <a:lnTo>
                    <a:pt x="5806313" y="6350"/>
                  </a:lnTo>
                  <a:lnTo>
                    <a:pt x="5806313" y="0"/>
                  </a:lnTo>
                  <a:cubicBezTo>
                    <a:pt x="5880608" y="0"/>
                    <a:pt x="5940933" y="59690"/>
                    <a:pt x="5940933" y="133350"/>
                  </a:cubicBezTo>
                  <a:lnTo>
                    <a:pt x="5934583" y="133350"/>
                  </a:lnTo>
                  <a:lnTo>
                    <a:pt x="5940933" y="133350"/>
                  </a:lnTo>
                  <a:lnTo>
                    <a:pt x="5940933" y="982091"/>
                  </a:lnTo>
                  <a:lnTo>
                    <a:pt x="5934583" y="982091"/>
                  </a:lnTo>
                  <a:lnTo>
                    <a:pt x="5940933" y="982091"/>
                  </a:lnTo>
                  <a:cubicBezTo>
                    <a:pt x="5940933" y="1055751"/>
                    <a:pt x="5880608" y="1115441"/>
                    <a:pt x="5806313" y="1115441"/>
                  </a:cubicBezTo>
                  <a:lnTo>
                    <a:pt x="5806313" y="1109091"/>
                  </a:lnTo>
                  <a:lnTo>
                    <a:pt x="5806313" y="1115441"/>
                  </a:lnTo>
                  <a:lnTo>
                    <a:pt x="134620" y="1115441"/>
                  </a:lnTo>
                  <a:lnTo>
                    <a:pt x="134620" y="1109091"/>
                  </a:lnTo>
                  <a:lnTo>
                    <a:pt x="134620" y="1115441"/>
                  </a:lnTo>
                  <a:cubicBezTo>
                    <a:pt x="60325" y="1115441"/>
                    <a:pt x="0" y="1055751"/>
                    <a:pt x="0" y="982091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982091"/>
                  </a:lnTo>
                  <a:lnTo>
                    <a:pt x="6350" y="982091"/>
                  </a:lnTo>
                  <a:lnTo>
                    <a:pt x="12700" y="982091"/>
                  </a:lnTo>
                  <a:cubicBezTo>
                    <a:pt x="12700" y="1048639"/>
                    <a:pt x="67183" y="1102741"/>
                    <a:pt x="134620" y="1102741"/>
                  </a:cubicBezTo>
                  <a:lnTo>
                    <a:pt x="5806313" y="1102741"/>
                  </a:lnTo>
                  <a:cubicBezTo>
                    <a:pt x="5873623" y="1102741"/>
                    <a:pt x="5928233" y="1048639"/>
                    <a:pt x="5928233" y="982091"/>
                  </a:cubicBezTo>
                  <a:lnTo>
                    <a:pt x="5928233" y="133350"/>
                  </a:lnTo>
                  <a:cubicBezTo>
                    <a:pt x="5928233" y="66802"/>
                    <a:pt x="5873750" y="12700"/>
                    <a:pt x="5806313" y="12700"/>
                  </a:cubicBezTo>
                  <a:lnTo>
                    <a:pt x="134620" y="12700"/>
                  </a:lnTo>
                  <a:lnTo>
                    <a:pt x="134620" y="6350"/>
                  </a:lnTo>
                  <a:lnTo>
                    <a:pt x="134620" y="12700"/>
                  </a:lnTo>
                  <a:cubicBezTo>
                    <a:pt x="67183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237532" y="6920951"/>
            <a:ext cx="2835326" cy="3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🔗</a:t>
            </a:r>
            <a:r>
              <a:rPr lang="en-US" sz="2187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 LMS Integration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2462" y="8114262"/>
            <a:ext cx="9105309" cy="70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Built in a hackathon. Ready for the classroom. </a:t>
            </a:r>
            <a:r>
              <a:rPr lang="en-US" sz="1750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Thank you from Team Error 404 Coders Not Found!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92238" y="7957842"/>
            <a:ext cx="28575" cy="1061142"/>
            <a:chOff x="0" y="0"/>
            <a:chExt cx="38100" cy="1414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" cy="1414907"/>
            </a:xfrm>
            <a:custGeom>
              <a:avLst/>
              <a:gdLst/>
              <a:ahLst/>
              <a:cxnLst/>
              <a:rect r="r" b="b" t="t" l="l"/>
              <a:pathLst>
                <a:path h="1414907" w="38100">
                  <a:moveTo>
                    <a:pt x="0" y="0"/>
                  </a:moveTo>
                  <a:lnTo>
                    <a:pt x="38100" y="0"/>
                  </a:lnTo>
                  <a:lnTo>
                    <a:pt x="38100" y="1414907"/>
                  </a:lnTo>
                  <a:lnTo>
                    <a:pt x="0" y="1414907"/>
                  </a:lnTo>
                  <a:close/>
                </a:path>
              </a:pathLst>
            </a:custGeom>
            <a:solidFill>
              <a:srgbClr val="F2F2F3"/>
            </a:solidFill>
          </p:spPr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DAHHL22xJi0</dc:identifier>
  <dcterms:modified xsi:type="dcterms:W3CDTF">2011-08-01T06:04:30Z</dcterms:modified>
  <cp:revision>1</cp:revision>
  <dc:title>VirtuTeach-AI.pptx</dc:title>
</cp:coreProperties>
</file>